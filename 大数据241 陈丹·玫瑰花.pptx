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0" r:id="rId3"/>
    <p:sldMasterId id="2147483652" r:id="rId4"/>
    <p:sldMasterId id="2147483654" r:id="rId5"/>
    <p:sldMasterId id="2147483656" r:id="rId6"/>
  </p:sldMasterIdLst>
  <p:notesMasterIdLst>
    <p:notesMasterId r:id="rId8"/>
  </p:notesMasterIdLst>
  <p:sldIdLst>
    <p:sldId id="256" r:id="rId7"/>
    <p:sldId id="257" r:id="rId9"/>
    <p:sldId id="258" r:id="rId10"/>
    <p:sldId id="259" r:id="rId11"/>
    <p:sldId id="272" r:id="rId12"/>
    <p:sldId id="260" r:id="rId13"/>
    <p:sldId id="261" r:id="rId14"/>
    <p:sldId id="274" r:id="rId15"/>
    <p:sldId id="262" r:id="rId16"/>
    <p:sldId id="263" r:id="rId17"/>
    <p:sldId id="275" r:id="rId18"/>
    <p:sldId id="264" r:id="rId19"/>
    <p:sldId id="265" r:id="rId20"/>
    <p:sldId id="276" r:id="rId21"/>
    <p:sldId id="266" r:id="rId22"/>
    <p:sldId id="267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89F"/>
    <a:srgbClr val="F4330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各位老师同学好，今天我汇报的药材是玫瑰花。玫瑰花是国家卫健委公布的药食同源物品，也是大家最熟悉的美容养生食材之一。我会从中医基础、美容机理、现代研究、生活产品和配伍方案几个方面展开。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今天的汇报围绕五个部分展开。先从中医基础讲玫瑰花是什么，再讲它为什么能养颜，接着用现代研究解释成分，然后落到大家生活里能买到的产品和具体怎么配伍，最后是禁忌和我的学习感悟。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在进入正文前先抛一个问题：玫瑰花不是名贵药材，为什么会成为女性养颜食疗的第一花？这要从它在《中国药典》里的定位、性味归经和核心功效讲起。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玫瑰花的性味是甘微苦温，归肝脾经，这决定了它的三个核心作用：行气解郁、和血散瘀、醒脾和胃。注意能食用的是重瓣红玫瑰，花店的观赏玫瑰不能吃。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玫瑰花的性味是甘微苦温，归肝脾经，这决定了它的三个核心作用：行气解郁、和血散瘀、醒脾和胃。注意能食用的是重瓣红玫瑰，花店的观赏玫瑰不能吃。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中医看黄褐斑、面色暗沉，大多归在肝郁气滞血瘀这条链上。玫瑰花一疏肝、二和血，正好打断两个关键环节，这就是它「以内养外」的逻辑。注意这只是调养思路，不能替代药物治疗黄褐斑。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现代研究在玫瑰花里检出挥发油、黄酮多酚、维生素和氨基酸四类主要活性成分。其中黄酮多酚负责抗氧化，挥发油负责情绪调节，这正好和中医「疏肝和血」的经验对应上了。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中医看黄褐斑、面色暗沉，大多归在肝郁气滞血瘀这条链上。玫瑰花一疏肝、二和血，正好打断两个关键环节，这就是它「以内养外」的逻辑。注意这只是调养思路，不能替代药物治疗黄褐斑。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生活里最常见的就是这三类：代用茶、干花冠、鲜花饼。代用茶最适合长期日常喝；鲜花饼好吃但糖油高，不能当养生代餐。另外一定要认准重瓣红玫瑰，观赏切花玫瑰不能吃。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这是四个常用配伍方：基础方单喝玫瑰；淡斑加陈皮枸杞；乏力加黄芪红枣；失眠干燥加百合。核心是辨证，不是网红养生方直接照搬。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这是四个常用配伍方：基础方单喝玫瑰；淡斑加陈皮枸杞；乏力加黄芪红枣；失眠干燥加百合。核心是辨证，不是网红养生方直接照搬。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禁忌要重点讲：阴虚火旺的人喝了容易上火；经量多的经期要停；孕妇慎用；糖油产品控糖人群少碰；品种一定要认准重瓣红玫瑰，不能拿观赏玫瑰泡水。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这门课对我最大的改变是三点：美容思路从外涂转到内养，喝养生茶从跟风转到辨证，买产品从网红驱动转到理性判断。中医食疗是一种长期的生活方式，不是速效消费。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这门课对我最大的改变是三点：美容思路从外涂转到内养，喝养生茶从跟风转到辨证，买产品从网红驱动转到理性判断。中医食疗是一种长期的生活方式，不是速效消费。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参考文献列了三篇：药典、玫瑰活性成分综述、疏肝活血法与黄褐斑食疗的文献。提醒一下，食疗内容是调养思路，不能替代正规医疗。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我的汇报到这里。玫瑰花这味药食同源的花，最核心的价值不是速效，而是教我们用温和、长期、辨证的方式对待自己的身体和皮肤。感谢大家聆听。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3.jpe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image" Target="../media/image2.jpe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image" Target="../media/image4.jpeg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tags" Target="../tags/tag17.xml"/><Relationship Id="rId7" Type="http://schemas.openxmlformats.org/officeDocument/2006/relationships/tags" Target="../tags/tag16.xml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4" Type="http://schemas.openxmlformats.org/officeDocument/2006/relationships/notesSlide" Target="../notesSlides/notesSlide10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29.xml"/><Relationship Id="rId7" Type="http://schemas.openxmlformats.org/officeDocument/2006/relationships/tags" Target="../tags/tag28.xml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0" Type="http://schemas.openxmlformats.org/officeDocument/2006/relationships/notesSlide" Target="../notesSlides/notesSlide11.xml"/><Relationship Id="rId1" Type="http://schemas.openxmlformats.org/officeDocument/2006/relationships/tags" Target="../tags/tag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38.xml"/><Relationship Id="rId8" Type="http://schemas.openxmlformats.org/officeDocument/2006/relationships/tags" Target="../tags/tag37.xml"/><Relationship Id="rId7" Type="http://schemas.openxmlformats.org/officeDocument/2006/relationships/tags" Target="../tags/tag36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tags" Target="../tags/tag32.xml"/><Relationship Id="rId2" Type="http://schemas.openxmlformats.org/officeDocument/2006/relationships/tags" Target="../tags/tag31.xml"/><Relationship Id="rId11" Type="http://schemas.openxmlformats.org/officeDocument/2006/relationships/notesSlide" Target="../notesSlides/notesSlide13.xml"/><Relationship Id="rId10" Type="http://schemas.openxmlformats.org/officeDocument/2006/relationships/slideLayout" Target="../slideLayouts/slideLayout1.xml"/><Relationship Id="rId1" Type="http://schemas.openxmlformats.org/officeDocument/2006/relationships/tags" Target="../tags/tag3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.xml"/><Relationship Id="rId8" Type="http://schemas.openxmlformats.org/officeDocument/2006/relationships/tags" Target="../tags/tag46.xml"/><Relationship Id="rId7" Type="http://schemas.openxmlformats.org/officeDocument/2006/relationships/tags" Target="../tags/tag45.xml"/><Relationship Id="rId6" Type="http://schemas.openxmlformats.org/officeDocument/2006/relationships/tags" Target="../tags/tag44.xml"/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0" Type="http://schemas.openxmlformats.org/officeDocument/2006/relationships/notesSlide" Target="../notesSlides/notesSlide14.xml"/><Relationship Id="rId1" Type="http://schemas.openxmlformats.org/officeDocument/2006/relationships/tags" Target="../tags/tag3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5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52.xml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tags" Target="../tags/tag4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 l="29079" r="29079"/>
          <a:stretch>
            <a:fillRect/>
          </a:stretch>
        </p:blipFill>
        <p:spPr>
          <a:xfrm>
            <a:off x="7112000" y="0"/>
            <a:ext cx="5080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7112000" cy="6858000"/>
          </a:xfrm>
          <a:prstGeom prst="roundRect">
            <a:avLst>
              <a:gd name="adj" fmla="val 0"/>
            </a:avLst>
          </a:prstGeom>
          <a:solidFill>
            <a:srgbClr val="FAF7F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 txBox="1"/>
          <p:nvPr/>
        </p:nvSpPr>
        <p:spPr>
          <a:xfrm>
            <a:off x="889000" y="1143000"/>
            <a:ext cx="558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中药保健美容食疗 · 课程论文汇报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57290">
            <a:off x="889053" y="17081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557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 txBox="1"/>
          <p:nvPr/>
        </p:nvSpPr>
        <p:spPr>
          <a:xfrm>
            <a:off x="889000" y="2159000"/>
            <a:ext cx="584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3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玫瑰花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3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在保健美容食疗中的应用</a:t>
            </a:r>
            <a:endParaRPr lang="en-US" sz="38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89000" y="44450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5A5A5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行气解郁 · 和血散瘀 · 以内养外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889000" y="5588000"/>
            <a:ext cx="584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汇报人：</a:t>
            </a:r>
            <a:r>
              <a:rPr lang="zh-CN" altLang="en-US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陈丹</a:t>
            </a:r>
            <a:r>
              <a:rPr lang="en-US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　班级：</a:t>
            </a:r>
            <a:r>
              <a:rPr lang="zh-CN" altLang="en-US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大数据</a:t>
            </a:r>
            <a:r>
              <a:rPr lang="en-US" altLang="zh-CN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241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学号：2024459985110</a:t>
            </a:r>
            <a:endParaRPr lang="en-US" sz="1300" b="0" i="0" u="none" strike="noStrike">
              <a:solidFill>
                <a:srgbClr val="787878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762000"/>
            <a:ext cx="635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CONTENTS · 汇报提纲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206500"/>
            <a:ext cx="889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从一味花，看懂药食同源的养颜逻辑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2279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279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1778000" y="285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中医基础：它到底是什么</a:t>
            </a:r>
            <a:endParaRPr lang="en-US" sz="1100"/>
          </a:p>
        </p:txBody>
      </p:sp>
      <p:sp>
        <p:nvSpPr>
          <p:cNvPr id="7" name="AutoShape 7"/>
          <p:cNvSpPr txBox="1"/>
          <p:nvPr/>
        </p:nvSpPr>
        <p:spPr>
          <a:xfrm>
            <a:off x="1778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性味归经、功效主治、适用证型</a:t>
            </a:r>
            <a:endParaRPr lang="en-US" sz="1100"/>
          </a:p>
        </p:txBody>
      </p:sp>
      <p:sp>
        <p:nvSpPr>
          <p:cNvPr id="8" name="AutoShape 8"/>
          <p:cNvSpPr txBox="1"/>
          <p:nvPr/>
        </p:nvSpPr>
        <p:spPr>
          <a:xfrm>
            <a:off x="6604000" y="279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7493000" y="285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美容机理：为什么能养颜</a:t>
            </a:r>
            <a:endParaRPr lang="en-US" sz="1100"/>
          </a:p>
        </p:txBody>
      </p:sp>
      <p:sp>
        <p:nvSpPr>
          <p:cNvPr id="10" name="AutoShape 10"/>
          <p:cNvSpPr txBox="1"/>
          <p:nvPr/>
        </p:nvSpPr>
        <p:spPr>
          <a:xfrm>
            <a:off x="7493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疏肝行气、和血散瘀与黄褐斑病机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889000" y="406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2" name="AutoShape 12"/>
          <p:cNvSpPr txBox="1"/>
          <p:nvPr/>
        </p:nvSpPr>
        <p:spPr>
          <a:xfrm>
            <a:off x="1778000" y="412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现代研究：活性成分</a:t>
            </a:r>
            <a:endParaRPr lang="en-US" sz="1100"/>
          </a:p>
        </p:txBody>
      </p:sp>
      <p:sp>
        <p:nvSpPr>
          <p:cNvPr id="13" name="AutoShape 13"/>
          <p:cNvSpPr txBox="1"/>
          <p:nvPr/>
        </p:nvSpPr>
        <p:spPr>
          <a:xfrm>
            <a:off x="1778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挥发油、黄酮、多酚与抗氧化作用</a:t>
            </a:r>
            <a:endParaRPr lang="en-US" sz="1100"/>
          </a:p>
        </p:txBody>
      </p:sp>
      <p:sp>
        <p:nvSpPr>
          <p:cNvPr id="14" name="AutoShape 14"/>
          <p:cNvSpPr txBox="1"/>
          <p:nvPr/>
        </p:nvSpPr>
        <p:spPr>
          <a:xfrm>
            <a:off x="6604000" y="406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5" name="AutoShape 15"/>
          <p:cNvSpPr txBox="1"/>
          <p:nvPr/>
        </p:nvSpPr>
        <p:spPr>
          <a:xfrm>
            <a:off x="7493000" y="412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生活产品与食疗配伍</a:t>
            </a:r>
            <a:endParaRPr lang="en-US" sz="1100"/>
          </a:p>
        </p:txBody>
      </p:sp>
      <p:sp>
        <p:nvSpPr>
          <p:cNvPr id="16" name="AutoShape 16"/>
          <p:cNvSpPr txBox="1"/>
          <p:nvPr/>
        </p:nvSpPr>
        <p:spPr>
          <a:xfrm>
            <a:off x="74930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花茶、玫瑰膏、鲜花饼与四个配伍方</a:t>
            </a: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89000" y="5334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</a:t>
            </a:r>
            <a:endParaRPr lang="en-US" sz="1100"/>
          </a:p>
        </p:txBody>
      </p:sp>
      <p:sp>
        <p:nvSpPr>
          <p:cNvPr id="18" name="AutoShape 18"/>
          <p:cNvSpPr txBox="1"/>
          <p:nvPr/>
        </p:nvSpPr>
        <p:spPr>
          <a:xfrm>
            <a:off x="1778000" y="5397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禁忌、感悟与参考文献</a:t>
            </a:r>
            <a:endParaRPr lang="en-US" sz="1100"/>
          </a:p>
        </p:txBody>
      </p:sp>
      <p:sp>
        <p:nvSpPr>
          <p:cNvPr id="19" name="AutoShape 19"/>
          <p:cNvSpPr txBox="1"/>
          <p:nvPr/>
        </p:nvSpPr>
        <p:spPr>
          <a:xfrm>
            <a:off x="1778000" y="577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828282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什么人不适合喝、课程收获与文献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1016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CHAPTER 01 · 认识玫瑰花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2159000"/>
            <a:ext cx="10414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4000" b="1" i="0" u="none" strike="noStrike">
                <a:solidFill>
                  <a:srgbClr val="FAF7F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为什么一朵随处可见的花，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4000" b="1" i="0" u="none" strike="noStrike">
                <a:solidFill>
                  <a:srgbClr val="FAF7F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能成为女性养颜食疗的主角？</a:t>
            </a:r>
            <a:endParaRPr lang="en-US" sz="4000" b="1" i="0" u="none" strike="noStrike">
              <a:solidFill>
                <a:srgbClr val="FAF7F3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4" name="Connector 4"/>
          <p:cNvCxnSpPr/>
          <p:nvPr/>
        </p:nvCxnSpPr>
        <p:spPr>
          <a:xfrm rot="-57290">
            <a:off x="889053" y="4819650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557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 txBox="1"/>
          <p:nvPr/>
        </p:nvSpPr>
        <p:spPr>
          <a:xfrm>
            <a:off x="889000" y="5080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C8C3B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它不是名贵药材，却被《中国药典》收载；它不直接美白，却被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600" b="0" i="0" u="none" strike="noStrike">
                <a:solidFill>
                  <a:srgbClr val="C8C3B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反复用于面色暗沉、黄褐斑、情绪焦虑的调养。答案要从它的性味归经说起。</a:t>
            </a:r>
            <a:endParaRPr lang="en-US" sz="1600" b="0" i="0" u="none" strike="noStrike">
              <a:solidFill>
                <a:srgbClr val="C8C3BE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2800" b="1">
                <a:solidFill>
                  <a:srgbClr val="4682C8"/>
                </a:solidFill>
              </a:defRPr>
            </a:pPr>
            <a:r>
              <a:rPr>
                <a:solidFill>
                  <a:schemeClr val="tx1"/>
                </a:solidFill>
                <a:sym typeface="+mn-ea"/>
              </a:rPr>
              <a:t>玫瑰花的历史与文化渊源</a:t>
            </a:r>
            <a:endParaRPr lang="en-US" sz="11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1968500"/>
            <a:ext cx="4191000" cy="34607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rPr sz="2000">
                <a:sym typeface="+mn-ea"/>
              </a:rPr>
              <a:t>从武则天到杨贵妃——千年养颜之花</a:t>
            </a:r>
            <a:endParaRPr lang="en-US" sz="2000"/>
          </a:p>
        </p:txBody>
      </p:sp>
      <p:sp>
        <p:nvSpPr>
          <p:cNvPr id="8" name="AutoShape 8"/>
          <p:cNvSpPr txBox="1"/>
          <p:nvPr/>
        </p:nvSpPr>
        <p:spPr>
          <a:xfrm>
            <a:off x="5080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9" name="AutoShape 9"/>
          <p:cNvSpPr txBox="1"/>
          <p:nvPr/>
        </p:nvSpPr>
        <p:spPr>
          <a:xfrm>
            <a:off x="1092835" y="2637790"/>
            <a:ext cx="254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olidFill>
                  <a:srgbClr val="D6489F"/>
                </a:solidFill>
                <a:sym typeface="+mn-ea"/>
              </a:rPr>
              <a:t>【历史记载】</a:t>
            </a:r>
            <a:endParaRPr sz="2000">
              <a:solidFill>
                <a:srgbClr val="D6489F"/>
              </a:solidFill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武则天曾用玫瑰花露蒸面，杨贵妃以玫瑰浴汤养肤，玫瑰花在中国美容文化中已有千年历史</a:t>
            </a:r>
            <a:r>
              <a:rPr sz="2400">
                <a:sym typeface="+mn-ea"/>
              </a:rPr>
              <a:t>。</a:t>
            </a:r>
            <a:endParaRPr lang="en-US" sz="2400" b="0" i="0" u="none" strike="noStrike">
              <a:solidFill>
                <a:srgbClr val="46464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 txBox="1"/>
          <p:nvPr/>
        </p:nvSpPr>
        <p:spPr>
          <a:xfrm>
            <a:off x="4327525" y="2637790"/>
            <a:ext cx="2685415" cy="3407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endParaRPr lang="en-US" sz="2000"/>
          </a:p>
        </p:txBody>
      </p:sp>
      <p:sp>
        <p:nvSpPr>
          <p:cNvPr id="15" name="文本框 14"/>
          <p:cNvSpPr txBox="1"/>
          <p:nvPr/>
        </p:nvSpPr>
        <p:spPr>
          <a:xfrm>
            <a:off x="7620635" y="1280160"/>
            <a:ext cx="4025265" cy="59594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endParaRPr lang="zh-CN" altLang="en-US"/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olidFill>
                  <a:srgbClr val="D6489F"/>
                </a:solidFill>
                <a:sym typeface="+mn-ea"/>
              </a:rPr>
              <a:t>【药食同源】</a:t>
            </a:r>
            <a:endParaRPr sz="2000">
              <a:solidFill>
                <a:srgbClr val="D6489F"/>
              </a:solidFill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2002年卫生部将玫瑰花列入《既是食品又是药品的物品名单》，正式确立其药食同源地位。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食用品种为重瓣红玫瑰（Rosa rugosa var. plena），与观赏月季/玫瑰严格区分。</a:t>
            </a:r>
            <a:endParaRPr lang="zh-CN" altLang="en-US" sz="2000"/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olidFill>
                  <a:srgbClr val="D6489F"/>
                </a:solidFill>
                <a:sym typeface="+mn-ea"/>
              </a:rPr>
              <a:t>【药食同源】</a:t>
            </a:r>
            <a:endParaRPr sz="2000">
              <a:solidFill>
                <a:srgbClr val="D6489F"/>
              </a:solidFill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2002年卫生部将玫瑰花列入《既是食品又是药品的物品名单》，正式确立其药食同源地位。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食用品种为重瓣红玫瑰（Rosa rugosa var. plena），与观赏月季/玫瑰严格区分。</a:t>
            </a:r>
            <a:endParaRPr lang="en-US" sz="2000"/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endParaRPr lang="zh-CN" altLang="en-US" sz="2000"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69620" y="655320"/>
            <a:ext cx="6096000" cy="3606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CHAPTER 01 · 认识玫瑰花</a:t>
            </a:r>
            <a:endParaRPr lang="en-US" altLang="en-US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120515" y="3115945"/>
            <a:ext cx="3245485" cy="2451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olidFill>
                  <a:srgbClr val="D6489F"/>
                </a:solidFill>
                <a:sym typeface="+mn-ea"/>
              </a:rPr>
              <a:t>【文化意义】</a:t>
            </a:r>
            <a:endParaRPr sz="2000">
              <a:solidFill>
                <a:srgbClr val="D6489F"/>
              </a:solidFill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玫瑰花象征美丽与爱情，在中医文化中更代表“行气解郁”——以芳香之气化解情志之郁，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体现了中医“以花养颜、以内养外”的独特美容哲学。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　中医基础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甘微苦温，入肝脾——玫瑰花的三味本事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2286000"/>
            <a:ext cx="330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8C8C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来源 · 《中国药典》2020 版一部</a:t>
            </a:r>
            <a:endParaRPr lang="en-US" sz="1100"/>
          </a:p>
        </p:txBody>
      </p:sp>
      <p:sp>
        <p:nvSpPr>
          <p:cNvPr id="6" name="AutoShape 6"/>
          <p:cNvSpPr txBox="1"/>
          <p:nvPr/>
        </p:nvSpPr>
        <p:spPr>
          <a:xfrm>
            <a:off x="889000" y="2763520"/>
            <a:ext cx="3302000" cy="3015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0000"/>
              </a:lnSpc>
              <a:defRPr/>
            </a:pPr>
            <a:r>
              <a:rPr lang="en-US" sz="24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性味</a:t>
            </a:r>
            <a:r>
              <a:rPr lang="en-US" sz="24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甘、微苦，温</a:t>
            </a:r>
            <a:endParaRPr lang="en-US" sz="2400"/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归经</a:t>
            </a:r>
            <a:r>
              <a:rPr lang="en-US" sz="24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归肝、脾经</a:t>
            </a:r>
            <a:endParaRPr lang="en-US" sz="2400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基原</a:t>
            </a:r>
            <a:r>
              <a:rPr lang="en-US" sz="24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蔷薇科玫瑰干燥花蕾</a:t>
            </a:r>
            <a:endParaRPr lang="en-US" sz="2400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  <a:p>
            <a:pPr marL="0" indent="0" algn="l">
              <a:lnSpc>
                <a:spcPct val="150000"/>
              </a:lnSpc>
            </a:pPr>
            <a:r>
              <a:rPr lang="en-US" sz="24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食用品种</a:t>
            </a:r>
            <a:r>
              <a:rPr lang="en-US" sz="24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重瓣红玫瑰</a:t>
            </a:r>
            <a:endParaRPr lang="en-US" sz="2400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387267">
            <a:off x="2857500" y="3994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 txBox="1"/>
          <p:nvPr/>
        </p:nvSpPr>
        <p:spPr>
          <a:xfrm>
            <a:off x="5080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行气解郁</a:t>
            </a:r>
            <a:endParaRPr lang="en-US" sz="2000"/>
          </a:p>
        </p:txBody>
      </p:sp>
      <p:sp>
        <p:nvSpPr>
          <p:cNvPr id="9" name="AutoShape 9"/>
          <p:cNvSpPr txBox="1"/>
          <p:nvPr/>
        </p:nvSpPr>
        <p:spPr>
          <a:xfrm>
            <a:off x="4994910" y="2794000"/>
            <a:ext cx="2164715" cy="18891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入肝经，疏通气机。</a:t>
            </a:r>
            <a:endParaRPr lang="en-US" sz="1800"/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改善压力大、情绪压抑导致的胸闷、心烦易怒、乳房胀痛、失眠。</a:t>
            </a:r>
            <a:endParaRPr lang="en-US" sz="1800" b="0" i="0" u="none" strike="noStrike">
              <a:solidFill>
                <a:srgbClr val="46464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7874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和血散瘀</a:t>
            </a:r>
            <a:endParaRPr lang="en-US" sz="2000"/>
          </a:p>
        </p:txBody>
      </p:sp>
      <p:sp>
        <p:nvSpPr>
          <p:cNvPr id="11" name="AutoShape 11"/>
          <p:cNvSpPr txBox="1"/>
          <p:nvPr/>
        </p:nvSpPr>
        <p:spPr>
          <a:xfrm>
            <a:off x="7882890" y="2580005"/>
            <a:ext cx="2632710" cy="18961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温和疏通血络。</a:t>
            </a:r>
            <a:endParaRPr lang="en-US" sz="1800"/>
          </a:p>
          <a:p>
            <a:pPr marL="0" indent="0" algn="l">
              <a:lnSpc>
                <a:spcPct val="142000"/>
              </a:lnSpc>
            </a:pPr>
            <a:r>
              <a:rPr lang="en-US" sz="18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改善气滞血瘀引起的面色暗沉、唇色紫暗、经行不畅、痛经、血块多。</a:t>
            </a:r>
            <a:endParaRPr lang="en-US" sz="1800" b="0" i="0" u="none" strike="noStrike">
              <a:solidFill>
                <a:srgbClr val="464646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2" name="AutoShape 12"/>
          <p:cNvSpPr txBox="1"/>
          <p:nvPr/>
        </p:nvSpPr>
        <p:spPr>
          <a:xfrm>
            <a:off x="5080000" y="4810125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醒脾和胃</a:t>
            </a:r>
            <a:endParaRPr lang="en-US" sz="2000"/>
          </a:p>
        </p:txBody>
      </p:sp>
      <p:sp>
        <p:nvSpPr>
          <p:cNvPr id="13" name="AutoShape 13"/>
          <p:cNvSpPr txBox="1"/>
          <p:nvPr/>
        </p:nvSpPr>
        <p:spPr>
          <a:xfrm>
            <a:off x="4994910" y="5143500"/>
            <a:ext cx="316357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芳香入脾，改善肝郁犯胃的胃胀、食欲差，助气血生化。</a:t>
            </a:r>
            <a:endParaRPr lang="en-US" sz="1800"/>
          </a:p>
        </p:txBody>
      </p:sp>
      <p:sp>
        <p:nvSpPr>
          <p:cNvPr id="14" name="AutoShape 14"/>
          <p:cNvSpPr txBox="1"/>
          <p:nvPr/>
        </p:nvSpPr>
        <p:spPr>
          <a:xfrm>
            <a:off x="889000" y="6286500"/>
            <a:ext cx="1041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来源：国家药典委员会《中华人民共和国药典》一部，2020 年版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　美容机理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黄褐斑、面色暗沉，往往是一条「气滞血瘀」链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2286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中医美容的核心病机链条（肝郁气滞血瘀证）：</a:t>
            </a:r>
            <a:endParaRPr lang="en-US" sz="1800"/>
          </a:p>
        </p:txBody>
      </p:sp>
      <p:sp>
        <p:nvSpPr>
          <p:cNvPr id="6" name="AutoShape 6"/>
          <p:cNvSpPr/>
          <p:nvPr/>
        </p:nvSpPr>
        <p:spPr>
          <a:xfrm>
            <a:off x="889000" y="29210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F3D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889000" y="2921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长期压力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情绪抑郁</a:t>
            </a:r>
            <a:endParaRPr lang="en-US" sz="14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2857500" y="32385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C25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238500" y="29210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F3D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 txBox="1"/>
          <p:nvPr/>
        </p:nvSpPr>
        <p:spPr>
          <a:xfrm>
            <a:off x="3238500" y="2921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肝气郁结</a:t>
            </a: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07000" y="32385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C25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588000" y="2921000"/>
            <a:ext cx="1905000" cy="1016000"/>
          </a:xfrm>
          <a:prstGeom prst="roundRect">
            <a:avLst>
              <a:gd name="adj" fmla="val 10000"/>
            </a:avLst>
          </a:prstGeom>
          <a:solidFill>
            <a:srgbClr val="F3D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 txBox="1"/>
          <p:nvPr/>
        </p:nvSpPr>
        <p:spPr>
          <a:xfrm>
            <a:off x="5588000" y="2921000"/>
            <a:ext cx="190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血行不畅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瘀血内生</a:t>
            </a:r>
            <a:endParaRPr lang="en-US" sz="14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4" name="AutoShape 14"/>
          <p:cNvSpPr txBox="1"/>
          <p:nvPr/>
        </p:nvSpPr>
        <p:spPr>
          <a:xfrm>
            <a:off x="7556500" y="32385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C2557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937500" y="29210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C2557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 txBox="1"/>
          <p:nvPr/>
        </p:nvSpPr>
        <p:spPr>
          <a:xfrm>
            <a:off x="7937500" y="2921000"/>
            <a:ext cx="254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气血不能上荣于面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暗沉 · 黄褐斑 · 唇色紫</a:t>
            </a:r>
            <a:endParaRPr lang="en-US" sz="1400" b="1" i="0" u="none" strike="noStrike">
              <a:solidFill>
                <a:srgbClr val="FFFFFF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7" name="AutoShape 17"/>
          <p:cNvSpPr txBox="1"/>
          <p:nvPr/>
        </p:nvSpPr>
        <p:spPr>
          <a:xfrm>
            <a:off x="889000" y="4445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787878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玫瑰花正好对治这条链的两个关键环节：</a:t>
            </a:r>
            <a:endParaRPr lang="en-US" sz="1800"/>
          </a:p>
        </p:txBody>
      </p:sp>
      <p:sp>
        <p:nvSpPr>
          <p:cNvPr id="18" name="AutoShape 18"/>
          <p:cNvSpPr txBox="1"/>
          <p:nvPr/>
        </p:nvSpPr>
        <p:spPr>
          <a:xfrm>
            <a:off x="889000" y="49530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 行气解郁　→　疏通肝气，打断链条起点</a:t>
            </a:r>
            <a:endParaRPr lang="en-US" sz="1800"/>
          </a:p>
        </p:txBody>
      </p:sp>
      <p:sp>
        <p:nvSpPr>
          <p:cNvPr id="19" name="AutoShape 19"/>
          <p:cNvSpPr txBox="1"/>
          <p:nvPr/>
        </p:nvSpPr>
        <p:spPr>
          <a:xfrm>
            <a:off x="889000" y="53975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 和血散瘀　→　推动血行，气血上达头面</a:t>
            </a:r>
            <a:endParaRPr lang="en-US" sz="1800"/>
          </a:p>
        </p:txBody>
      </p:sp>
      <p:sp>
        <p:nvSpPr>
          <p:cNvPr id="20" name="AutoShape 20"/>
          <p:cNvSpPr txBox="1"/>
          <p:nvPr/>
        </p:nvSpPr>
        <p:spPr>
          <a:xfrm>
            <a:off x="889000" y="5969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与化学护肤品不同：玫瑰花不直接作用于表皮，而是通过调脏腑、和气血，从根源改善「有诸内必形诸外」的颜面问题</a:t>
            </a:r>
            <a:r>
              <a:rPr lang="en-US" sz="14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　现代研究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玫瑰花里的四类活性成分，分别在做什么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889000" y="2203450"/>
          <a:ext cx="10414000" cy="3511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286000"/>
                <a:gridCol w="4064000"/>
                <a:gridCol w="4064000"/>
              </a:tblGrid>
              <a:tr h="54038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活性成分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557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主要作用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557A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与美容/健康的关联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2557A">
                        <a:alpha val="100000"/>
                      </a:srgbClr>
                    </a:solidFill>
                  </a:tcPr>
                </a:tc>
              </a:tr>
              <a:tr h="7429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挥发油</a:t>
                      </a:r>
                      <a:endParaRPr lang="en-US" sz="2000"/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en-US" sz="2000" b="1" i="0" u="none" strike="noStrike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（香茅醇、香叶醇）</a:t>
                      </a:r>
                      <a:endParaRPr lang="en-US" sz="2000" b="1" i="0" u="none" strike="noStrike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D9E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芳香舒缓、调节神经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缓解焦虑、改善睡眠，间接改善压力性暗沉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315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黄酮类 · 多酚</a:t>
                      </a:r>
                      <a:endParaRPr lang="en-US" sz="2000" b="1" i="0" u="none" strike="noStrike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D9E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抗氧化、清除自由基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减少皮肤氧化损伤，辅助抑制黑色素沉着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维生素 C · 胡萝卜素</a:t>
                      </a:r>
                      <a:endParaRPr lang="en-US" sz="2000" b="1" i="0" u="none" strike="noStrike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D9E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促进胶原合成、保护黏膜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增强皮肤弹性，维持面部黏膜健康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4295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2000" b="1" i="0" u="none" strike="noStrike">
                          <a:solidFill>
                            <a:srgbClr val="2B2B2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氨基酸 · 微量元素</a:t>
                      </a:r>
                      <a:endParaRPr lang="en-US" sz="2000" b="1" i="0" u="none" strike="noStrike">
                        <a:solidFill>
                          <a:srgbClr val="2B2B2B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D9E0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参与微循环与组织修复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800" b="0" i="0" u="none" strike="noStrike">
                          <a:solidFill>
                            <a:srgbClr val="3C3C3C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辅助改善末梢循环，让面色更红润</a:t>
                      </a:r>
                      <a:endParaRPr lang="en-US" sz="1800" b="0" i="0" u="none" strike="noStrike">
                        <a:solidFill>
                          <a:srgbClr val="3C3C3C"/>
                        </a:solidFill>
                        <a:latin typeface="Noto Sans SC" panose="020B0200000000000000" charset="-122"/>
                        <a:ea typeface="Noto Sans SC" panose="020B0200000000000000" charset="-122"/>
                        <a:cs typeface="Noto Sans SC" panose="020B0200000000000000" charset="-122"/>
                        <a:sym typeface="Noto Sans SC" panose="020B0200000000000000" charset="-122"/>
                      </a:endParaRPr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AutoShape 6"/>
          <p:cNvSpPr txBox="1"/>
          <p:nvPr/>
        </p:nvSpPr>
        <p:spPr>
          <a:xfrm>
            <a:off x="889000" y="60325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资料来源：重瓣红玫瑰活性成分及药食两用研究进展综述（《食品研究与开发》2022 年）；具体含量因产地、品种、干燥工艺差异较大。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2800" b="1">
                <a:solidFill>
                  <a:srgbClr val="4682C8"/>
                </a:solidFill>
              </a:defRPr>
            </a:pPr>
            <a:r>
              <a:rPr>
                <a:solidFill>
                  <a:schemeClr val="tx1"/>
                </a:solidFill>
                <a:sym typeface="+mn-ea"/>
              </a:rPr>
              <a:t>玫瑰花精油与外用美容</a:t>
            </a:r>
            <a:endParaRPr lang="en-US" sz="11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6954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2286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【玫瑰精油】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需3-5吨花瓣提取1公斤精油，被称为“液体黄金”，含300+种活性成分。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主要功效：抗氧化、抗炎、促进皮肤再生、调节皮脂分泌、淡化疤痕色斑。</a:t>
            </a:r>
            <a:endParaRPr lang="en-US" sz="2000"/>
          </a:p>
        </p:txBody>
      </p:sp>
      <p:sp>
        <p:nvSpPr>
          <p:cNvPr id="6" name="AutoShape 6"/>
          <p:cNvSpPr/>
          <p:nvPr/>
        </p:nvSpPr>
        <p:spPr>
          <a:xfrm>
            <a:off x="889000" y="3128010"/>
            <a:ext cx="8983345" cy="1255395"/>
          </a:xfrm>
          <a:prstGeom prst="roundRect">
            <a:avLst>
              <a:gd name="adj" fmla="val 10000"/>
            </a:avLst>
          </a:prstGeom>
          <a:solidFill>
            <a:srgbClr val="F3D9E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 txBox="1"/>
          <p:nvPr/>
        </p:nvSpPr>
        <p:spPr>
          <a:xfrm>
            <a:off x="1030605" y="3429635"/>
            <a:ext cx="8983345" cy="10706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【玫瑰纯露（花水）】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蒸馏精油的副产品，温和安全，可直接作为化妆水/爽肤水使用。</a:t>
            </a:r>
            <a:endParaRPr sz="20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2000">
                <a:sym typeface="+mn-ea"/>
              </a:rPr>
              <a:t>适合所有肤质，尤其适合敏感肌和干燥肌，具有补水、舒缓、收敛毛孔的作用。</a:t>
            </a:r>
            <a:endParaRPr sz="2000">
              <a:sym typeface="+mn-ea"/>
            </a:endParaRPr>
          </a:p>
          <a:p>
            <a:pPr marL="0" indent="0" algn="ctr">
              <a:lnSpc>
                <a:spcPct val="125000"/>
              </a:lnSpc>
              <a:defRPr/>
            </a:pPr>
            <a:endParaRPr lang="en-US" sz="20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8" name="AutoShape 8"/>
          <p:cNvSpPr txBox="1"/>
          <p:nvPr/>
        </p:nvSpPr>
        <p:spPr>
          <a:xfrm>
            <a:off x="2857500" y="32385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1" name="AutoShape 11"/>
          <p:cNvSpPr txBox="1"/>
          <p:nvPr/>
        </p:nvSpPr>
        <p:spPr>
          <a:xfrm>
            <a:off x="5207000" y="3238500"/>
            <a:ext cx="31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/>
          </a:p>
        </p:txBody>
      </p:sp>
      <p:sp>
        <p:nvSpPr>
          <p:cNvPr id="17" name="AutoShape 17"/>
          <p:cNvSpPr txBox="1"/>
          <p:nvPr/>
        </p:nvSpPr>
        <p:spPr>
          <a:xfrm>
            <a:off x="889000" y="4648200"/>
            <a:ext cx="10414000" cy="220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800">
                <a:sym typeface="+mn-ea"/>
              </a:rPr>
              <a:t>【外用配方建议】</a:t>
            </a:r>
            <a:endParaRPr sz="18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800">
                <a:sym typeface="+mn-ea"/>
              </a:rPr>
              <a:t>① 面部喷雾：玫瑰纯露+少量甘油，日常补水随身喷。</a:t>
            </a:r>
            <a:endParaRPr sz="18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800">
                <a:sym typeface="+mn-ea"/>
              </a:rPr>
              <a:t>② 面膜：玫瑰纯露浸湿压缩面膜，敷脸10分钟，每周2-3次。</a:t>
            </a:r>
            <a:endParaRPr sz="18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800">
                <a:sym typeface="+mn-ea"/>
              </a:rPr>
              <a:t>③ 泡浴：干玫瑰花50g+温水泡浴，活血养颜，适合手脚冰凉者。</a:t>
            </a:r>
            <a:endParaRPr sz="18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800">
                <a:sym typeface="+mn-ea"/>
              </a:rPr>
              <a:t>④ 按摩油：玫瑰精油2滴+荷荷巴油10ml，面部按摩促进吸收。</a:t>
            </a:r>
            <a:endParaRPr sz="1800">
              <a:sym typeface="+mn-ea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sz="1800">
                <a:sym typeface="+mn-ea"/>
              </a:rPr>
              <a:t>注意：纯精油不可直接涂抹皮肤，必须稀释后使用；孕妇禁用玫瑰精油。</a:t>
            </a:r>
            <a:endParaRPr sz="1800">
              <a:sym typeface="+mn-ea"/>
            </a:endParaRPr>
          </a:p>
          <a:p>
            <a:pPr marL="0" indent="0" algn="l">
              <a:lnSpc>
                <a:spcPct val="125000"/>
              </a:lnSpc>
              <a:defRPr/>
            </a:pPr>
            <a:endParaRPr lang="en-US" sz="1800"/>
          </a:p>
        </p:txBody>
      </p:sp>
      <p:sp>
        <p:nvSpPr>
          <p:cNvPr id="20" name="AutoShape 20"/>
          <p:cNvSpPr txBox="1"/>
          <p:nvPr/>
        </p:nvSpPr>
        <p:spPr>
          <a:xfrm>
            <a:off x="889000" y="5969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endParaRPr lang="en-US" sz="1100"/>
          </a:p>
        </p:txBody>
      </p:sp>
      <p:sp>
        <p:nvSpPr>
          <p:cNvPr id="21" name="文本框 20"/>
          <p:cNvSpPr txBox="1"/>
          <p:nvPr/>
        </p:nvSpPr>
        <p:spPr>
          <a:xfrm>
            <a:off x="812800" y="636905"/>
            <a:ext cx="6096000" cy="3409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>
              <a:lnSpc>
                <a:spcPct val="125000"/>
              </a:lnSpc>
              <a:defRPr/>
            </a:pPr>
            <a:r>
              <a:rPr lang="en-US" sz="1300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　现代研究</a:t>
            </a:r>
            <a:endParaRPr lang="en-US" altLang="en-US" sz="1300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　生活产品案例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超市里这三类玫瑰产品，分别适合谁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" name="Picture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969" b="1969"/>
          <a:stretch>
            <a:fillRect/>
          </a:stretch>
        </p:blipFill>
        <p:spPr>
          <a:xfrm>
            <a:off x="889000" y="2286000"/>
            <a:ext cx="3175000" cy="2032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 txBox="1"/>
          <p:nvPr>
            <p:custDataLst>
              <p:tags r:id="rId3"/>
            </p:custDataLst>
          </p:nvPr>
        </p:nvSpPr>
        <p:spPr>
          <a:xfrm>
            <a:off x="889000" y="4445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重瓣红玫瑰代用茶</a:t>
            </a:r>
            <a:endParaRPr lang="en-US" sz="1800"/>
          </a:p>
        </p:txBody>
      </p:sp>
      <p:sp>
        <p:nvSpPr>
          <p:cNvPr id="7" name="AutoShape 7"/>
          <p:cNvSpPr txBox="1"/>
          <p:nvPr>
            <p:custDataLst>
              <p:tags r:id="rId4"/>
            </p:custDataLst>
          </p:nvPr>
        </p:nvSpPr>
        <p:spPr>
          <a:xfrm>
            <a:off x="889000" y="48514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最普及的日常款，开水冲泡即可。适合压力大、脸色暗沉、办公室人群长期饮用。</a:t>
            </a:r>
            <a:endParaRPr lang="en-US" sz="1600"/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t="18000" b="18000"/>
          <a:stretch>
            <a:fillRect/>
          </a:stretch>
        </p:blipFill>
        <p:spPr>
          <a:xfrm>
            <a:off x="4508500" y="2286000"/>
            <a:ext cx="3175000" cy="2032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 txBox="1"/>
          <p:nvPr>
            <p:custDataLst>
              <p:tags r:id="rId7"/>
            </p:custDataLst>
          </p:nvPr>
        </p:nvSpPr>
        <p:spPr>
          <a:xfrm>
            <a:off x="4508500" y="4445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墨红玫瑰 / 干花冠</a:t>
            </a:r>
            <a:endParaRPr lang="en-US" sz="1800"/>
          </a:p>
        </p:txBody>
      </p:sp>
      <p:sp>
        <p:nvSpPr>
          <p:cNvPr id="10" name="AutoShape 10"/>
          <p:cNvSpPr txBox="1"/>
          <p:nvPr>
            <p:custDataLst>
              <p:tags r:id="rId8"/>
            </p:custDataLst>
          </p:nvPr>
        </p:nvSpPr>
        <p:spPr>
          <a:xfrm>
            <a:off x="4508500" y="48514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一朵一杯，花瓣大、出汤快。讲究颜值和仪式感，适合喜花香浓的女性自用或待客。</a:t>
            </a:r>
            <a:endParaRPr lang="en-US" sz="160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t="1969" b="1969"/>
          <a:stretch>
            <a:fillRect/>
          </a:stretch>
        </p:blipFill>
        <p:spPr>
          <a:xfrm>
            <a:off x="8128000" y="2286000"/>
            <a:ext cx="3175000" cy="2032000"/>
          </a:xfrm>
          <a:prstGeom prst="roundRect">
            <a:avLst>
              <a:gd name="adj" fmla="val 3750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 txBox="1"/>
          <p:nvPr>
            <p:custDataLst>
              <p:tags r:id="rId11"/>
            </p:custDataLst>
          </p:nvPr>
        </p:nvSpPr>
        <p:spPr>
          <a:xfrm>
            <a:off x="8128000" y="4445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云南玫瑰鲜花饼</a:t>
            </a:r>
            <a:endParaRPr lang="en-US" sz="1800"/>
          </a:p>
        </p:txBody>
      </p:sp>
      <p:sp>
        <p:nvSpPr>
          <p:cNvPr id="13" name="AutoShape 13"/>
          <p:cNvSpPr txBox="1"/>
          <p:nvPr>
            <p:custDataLst>
              <p:tags r:id="rId12"/>
            </p:custDataLst>
          </p:nvPr>
        </p:nvSpPr>
        <p:spPr>
          <a:xfrm>
            <a:off x="8128000" y="4851400"/>
            <a:ext cx="317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以食用玫瑰花瓣为馅。休闲食疗，但含糖油偏高，糖尿病人和控糖人群要浅尝辄止。</a:t>
            </a:r>
            <a:endParaRPr lang="en-US" sz="1600"/>
          </a:p>
        </p:txBody>
      </p:sp>
      <p:sp>
        <p:nvSpPr>
          <p:cNvPr id="14" name="AutoShape 14"/>
          <p:cNvSpPr txBox="1"/>
          <p:nvPr/>
        </p:nvSpPr>
        <p:spPr>
          <a:xfrm>
            <a:off x="889000" y="6286500"/>
            <a:ext cx="10414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图片为市售常见产品示意；食用品种必须为重瓣红玫瑰，花店观赏玫瑰含农药、不可食用。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　食疗配伍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不是所有人都该单喝玫瑰——四个配伍方对号入座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889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基础养颜方</a:t>
            </a:r>
            <a:endParaRPr lang="en-US" sz="20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889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干玫瑰花 3–5 朵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沸水焖 5 分钟</a:t>
            </a:r>
            <a:endParaRPr lang="en-US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889000" y="3619500"/>
            <a:ext cx="203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适用：压力大、易生气、面色暗沉，无明显寒热偏差者。</a:t>
            </a:r>
            <a:endParaRPr lang="en-US" sz="1600"/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3683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疏肝淡斑方</a:t>
            </a:r>
            <a:endParaRPr lang="en-US" sz="2000"/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3683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 3 朵 + 陈皮 2g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+ 枸杞 6–10 粒</a:t>
            </a:r>
            <a:endParaRPr lang="en-US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3683000" y="3619500"/>
            <a:ext cx="211074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适用：肝郁兼阴虚，脸上长黄褐斑、眼睛干涩、口干。</a:t>
            </a:r>
            <a:endParaRPr lang="en-US" sz="1600"/>
          </a:p>
        </p:txBody>
      </p:sp>
      <p:sp>
        <p:nvSpPr>
          <p:cNvPr id="11" name="AutoShape 11"/>
          <p:cNvSpPr txBox="1"/>
          <p:nvPr>
            <p:custDataLst>
              <p:tags r:id="rId7"/>
            </p:custDataLst>
          </p:nvPr>
        </p:nvSpPr>
        <p:spPr>
          <a:xfrm>
            <a:off x="6477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补气悦色方</a:t>
            </a:r>
            <a:endParaRPr lang="en-US" sz="2000"/>
          </a:p>
        </p:txBody>
      </p:sp>
      <p:sp>
        <p:nvSpPr>
          <p:cNvPr id="12" name="AutoShape 12"/>
          <p:cNvSpPr txBox="1"/>
          <p:nvPr>
            <p:custDataLst>
              <p:tags r:id="rId8"/>
            </p:custDataLst>
          </p:nvPr>
        </p:nvSpPr>
        <p:spPr>
          <a:xfrm>
            <a:off x="6477000" y="2730500"/>
            <a:ext cx="228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 3 朵 + 黄芪 5g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+ 红枣 2 颗（去核）</a:t>
            </a:r>
            <a:endParaRPr lang="en-US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 txBox="1"/>
          <p:nvPr>
            <p:custDataLst>
              <p:tags r:id="rId9"/>
            </p:custDataLst>
          </p:nvPr>
        </p:nvSpPr>
        <p:spPr>
          <a:xfrm>
            <a:off x="6477000" y="3619500"/>
            <a:ext cx="209994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适用：气虚肝郁，易累、气短、面色萎黄、稍动就乏力。</a:t>
            </a:r>
            <a:endParaRPr lang="en-US" sz="1600"/>
          </a:p>
        </p:txBody>
      </p:sp>
      <p:sp>
        <p:nvSpPr>
          <p:cNvPr id="14" name="AutoShape 14"/>
          <p:cNvSpPr txBox="1"/>
          <p:nvPr>
            <p:custDataLst>
              <p:tags r:id="rId10"/>
            </p:custDataLst>
          </p:nvPr>
        </p:nvSpPr>
        <p:spPr>
          <a:xfrm>
            <a:off x="9271000" y="2286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润燥安神方</a:t>
            </a:r>
            <a:endParaRPr lang="en-US" sz="2000"/>
          </a:p>
        </p:txBody>
      </p:sp>
      <p:sp>
        <p:nvSpPr>
          <p:cNvPr id="15" name="AutoShape 15"/>
          <p:cNvSpPr txBox="1"/>
          <p:nvPr>
            <p:custDataLst>
              <p:tags r:id="rId11"/>
            </p:custDataLst>
          </p:nvPr>
        </p:nvSpPr>
        <p:spPr>
          <a:xfrm>
            <a:off x="9271000" y="274066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 3 朵</a:t>
            </a:r>
            <a:endParaRPr lang="en-US"/>
          </a:p>
          <a:p>
            <a:pPr marL="0" indent="0" algn="l">
              <a:lnSpc>
                <a:spcPct val="133000"/>
              </a:lnSpc>
            </a:pPr>
            <a:r>
              <a:rPr lang="en-US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+ 干百合 6g</a:t>
            </a:r>
            <a:endParaRPr lang="en-US" b="0" i="0" u="none" strike="noStrike">
              <a:solidFill>
                <a:srgbClr val="3C3C3C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>
            <p:custDataLst>
              <p:tags r:id="rId12"/>
            </p:custDataLst>
          </p:nvPr>
        </p:nvSpPr>
        <p:spPr>
          <a:xfrm>
            <a:off x="9271000" y="3619500"/>
            <a:ext cx="1792605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646464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适用：肝郁失眠、心烦、皮肤干燥、口燥咽干。</a:t>
            </a:r>
            <a:endParaRPr lang="en-US" sz="1600"/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5454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5715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辨证要点：</a:t>
            </a: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食疗不是越补越好。同样一杯玫瑰茶，适合肝郁长斑的人，却不适合经量偏大、阴虚火旺的人。坚持 1–3 个月才看到气色变化，不能期待速效祛斑。</a:t>
            </a:r>
            <a:endParaRPr lang="en-US"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　食疗配伍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2800" b="1">
                <a:solidFill>
                  <a:srgbClr val="4682C8"/>
                </a:solidFill>
              </a:defRPr>
            </a:pPr>
            <a:r>
              <a:rPr>
                <a:solidFill>
                  <a:schemeClr val="tx1"/>
                </a:solidFill>
                <a:sym typeface="+mn-ea"/>
              </a:rPr>
              <a:t>四季玫瑰食疗方案</a:t>
            </a:r>
            <a:endParaRPr lang="en-US" sz="11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889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春季疏肝</a:t>
            </a:r>
            <a:r>
              <a:rPr lang="zh-CN" altLang="en-US" sz="2000" b="1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理气</a:t>
            </a:r>
            <a:endParaRPr lang="zh-CN" altLang="en-US" sz="2000" b="1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>
            <p:custDataLst>
              <p:tags r:id="rId2"/>
            </p:custDataLst>
          </p:nvPr>
        </p:nvSpPr>
        <p:spPr>
          <a:xfrm>
            <a:off x="889000" y="2794000"/>
            <a:ext cx="192278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春天肝气升发，易情绪波动。玫瑰3朵+菊花2朵+枸杞6粒，疏肝清热明目。</a:t>
            </a:r>
            <a:endParaRPr lang="en-US" sz="1600"/>
          </a:p>
        </p:txBody>
      </p:sp>
      <p:sp>
        <p:nvSpPr>
          <p:cNvPr id="8" name="AutoShape 8"/>
          <p:cNvSpPr txBox="1"/>
          <p:nvPr>
            <p:custDataLst>
              <p:tags r:id="rId3"/>
            </p:custDataLst>
          </p:nvPr>
        </p:nvSpPr>
        <p:spPr>
          <a:xfrm>
            <a:off x="3683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夏季</a:t>
            </a: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解暑养心</a:t>
            </a:r>
            <a:endParaRPr lang="zh-CN" altLang="en-US" sz="2000" b="1" i="0" u="none" strike="noStrike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>
            <p:custDataLst>
              <p:tags r:id="rId4"/>
            </p:custDataLst>
          </p:nvPr>
        </p:nvSpPr>
        <p:spPr>
          <a:xfrm>
            <a:off x="3683000" y="2794000"/>
            <a:ext cx="211074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夏天心火旺盛，易烦躁。玫瑰3朵+莲子心1g+薄荷2片，清心解暑安神。</a:t>
            </a:r>
            <a:endParaRPr sz="16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冷泡玫瑰花茶：室温冷水浸泡4小时，清香解腻，适合夏季饮用。</a:t>
            </a:r>
            <a:endParaRPr lang="en-US" sz="1600"/>
          </a:p>
        </p:txBody>
      </p:sp>
      <p:sp>
        <p:nvSpPr>
          <p:cNvPr id="11" name="AutoShape 11"/>
          <p:cNvSpPr txBox="1"/>
          <p:nvPr>
            <p:custDataLst>
              <p:tags r:id="rId5"/>
            </p:custDataLst>
          </p:nvPr>
        </p:nvSpPr>
        <p:spPr>
          <a:xfrm>
            <a:off x="6477000" y="2286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秋季润燥养</a:t>
            </a: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肺</a:t>
            </a:r>
            <a:endParaRPr lang="zh-CN" altLang="en-US" sz="2000" b="1" i="0" u="none" strike="noStrike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3" name="AutoShape 13"/>
          <p:cNvSpPr txBox="1"/>
          <p:nvPr>
            <p:custDataLst>
              <p:tags r:id="rId6"/>
            </p:custDataLst>
          </p:nvPr>
        </p:nvSpPr>
        <p:spPr>
          <a:xfrm>
            <a:off x="6477000" y="2794000"/>
            <a:ext cx="2099945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秋天燥邪伤肺，皮肤干燥。玫瑰3朵+银耳半朵+冰糖少许，润肺养颜。</a:t>
            </a:r>
            <a:endParaRPr sz="16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玫瑰百合粥：玫瑰花+百合+粳米煮粥，滋阴润燥，改善秋燥皮肤干痒。</a:t>
            </a:r>
            <a:endParaRPr lang="en-US" sz="1600"/>
          </a:p>
        </p:txBody>
      </p:sp>
      <p:sp>
        <p:nvSpPr>
          <p:cNvPr id="14" name="AutoShape 14"/>
          <p:cNvSpPr txBox="1"/>
          <p:nvPr>
            <p:custDataLst>
              <p:tags r:id="rId7"/>
            </p:custDataLst>
          </p:nvPr>
        </p:nvSpPr>
        <p:spPr>
          <a:xfrm>
            <a:off x="9271000" y="2286000"/>
            <a:ext cx="203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冬季温</a:t>
            </a:r>
            <a:r>
              <a:rPr lang="zh-CN" altLang="en-US" sz="20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阳补血</a:t>
            </a:r>
            <a:endParaRPr lang="zh-CN" altLang="en-US" sz="2000" b="1" i="0" u="none" strike="noStrike">
              <a:solidFill>
                <a:srgbClr val="C2557A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6" name="AutoShape 16"/>
          <p:cNvSpPr txBox="1"/>
          <p:nvPr>
            <p:custDataLst>
              <p:tags r:id="rId8"/>
            </p:custDataLst>
          </p:nvPr>
        </p:nvSpPr>
        <p:spPr>
          <a:xfrm>
            <a:off x="9271000" y="2794000"/>
            <a:ext cx="1945640" cy="234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冬天寒凝血脉，面色苍白。玫瑰3朵1朵+红枣3颗+生姜2片+红糖，温经散寒。</a:t>
            </a:r>
            <a:endParaRPr sz="1600"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 sz="1600">
                <a:sym typeface="+mn-ea"/>
              </a:rPr>
              <a:t>玫瑰桂圆茶：玫瑰花+桂圆肉+红枣，补血养心，改善冬季手脚冰凉。</a:t>
            </a:r>
            <a:endParaRPr lang="en-US" sz="1600"/>
          </a:p>
        </p:txBody>
      </p:sp>
      <p:cxnSp>
        <p:nvCxnSpPr>
          <p:cNvPr id="17" name="Connector 17"/>
          <p:cNvCxnSpPr/>
          <p:nvPr/>
        </p:nvCxnSpPr>
        <p:spPr>
          <a:xfrm rot="-4192">
            <a:off x="889004" y="542290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 txBox="1"/>
          <p:nvPr/>
        </p:nvSpPr>
        <p:spPr>
          <a:xfrm>
            <a:off x="889000" y="5715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zh-CN" altLang="en-US" sz="1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原则</a:t>
            </a:r>
            <a:r>
              <a:rPr lang="en-US" sz="1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：</a:t>
            </a:r>
            <a:r>
              <a:rPr sz="1600">
                <a:sym typeface="+mn-ea"/>
              </a:rPr>
              <a:t>四季皆可饮玫瑰，但配伍需随季节调整——春疏肝、夏清心、秋润肺、%冬温阳。</a:t>
            </a:r>
            <a:endParaRPr sz="1600">
              <a:sym typeface="+mn-ea"/>
            </a:endParaRPr>
          </a:p>
          <a:p>
            <a:pPr marL="0" indent="0" algn="l">
              <a:lnSpc>
                <a:spcPct val="142000"/>
              </a:lnSpc>
              <a:defRPr/>
            </a:pPr>
            <a:endParaRPr lang="en-US" sz="16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　使用禁忌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玫瑰虽好，这五类人要少喝或不喝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889000" y="241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① 阴虚火旺者</a:t>
            </a:r>
            <a:endParaRPr lang="en-US" sz="1800"/>
          </a:p>
        </p:txBody>
      </p:sp>
      <p:sp>
        <p:nvSpPr>
          <p:cNvPr id="6" name="AutoShape 6"/>
          <p:cNvSpPr txBox="1"/>
          <p:nvPr/>
        </p:nvSpPr>
        <p:spPr>
          <a:xfrm>
            <a:off x="889000" y="2857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经常口干口苦、长痘、潮热盗汗。玫瑰花偏温，长期单喝易加重内热。</a:t>
            </a:r>
            <a:endParaRPr lang="en-US" sz="1600"/>
          </a:p>
        </p:txBody>
      </p:sp>
      <p:sp>
        <p:nvSpPr>
          <p:cNvPr id="7" name="AutoShape 7"/>
          <p:cNvSpPr txBox="1"/>
          <p:nvPr/>
        </p:nvSpPr>
        <p:spPr>
          <a:xfrm>
            <a:off x="6350000" y="2413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② 经量过多的女性</a:t>
            </a:r>
            <a:endParaRPr lang="en-US" sz="1800"/>
          </a:p>
        </p:txBody>
      </p:sp>
      <p:sp>
        <p:nvSpPr>
          <p:cNvPr id="8" name="AutoShape 8"/>
          <p:cNvSpPr txBox="1"/>
          <p:nvPr/>
        </p:nvSpPr>
        <p:spPr>
          <a:xfrm>
            <a:off x="6350000" y="28575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玫瑰花有和血活血作用，经期应停用，避免经量进一步增多。</a:t>
            </a:r>
            <a:endParaRPr lang="en-US" sz="1600"/>
          </a:p>
        </p:txBody>
      </p:sp>
      <p:sp>
        <p:nvSpPr>
          <p:cNvPr id="9" name="AutoShape 9"/>
          <p:cNvSpPr txBox="1"/>
          <p:nvPr/>
        </p:nvSpPr>
        <p:spPr>
          <a:xfrm>
            <a:off x="889000" y="3937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③ 孕妇</a:t>
            </a:r>
            <a:endParaRPr lang="en-US" sz="1800"/>
          </a:p>
        </p:txBody>
      </p:sp>
      <p:sp>
        <p:nvSpPr>
          <p:cNvPr id="10" name="AutoShape 10"/>
          <p:cNvSpPr txBox="1"/>
          <p:nvPr/>
        </p:nvSpPr>
        <p:spPr>
          <a:xfrm>
            <a:off x="889000" y="4318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玫瑰活血行气，孕期慎用，建议先咨询中医师。</a:t>
            </a:r>
            <a:endParaRPr lang="en-US" sz="1600"/>
          </a:p>
        </p:txBody>
      </p:sp>
      <p:sp>
        <p:nvSpPr>
          <p:cNvPr id="11" name="AutoShape 11"/>
          <p:cNvSpPr txBox="1"/>
          <p:nvPr/>
        </p:nvSpPr>
        <p:spPr>
          <a:xfrm>
            <a:off x="6350000" y="38735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④ 糖尿病 / 控糖人群</a:t>
            </a:r>
            <a:endParaRPr lang="en-US" sz="1800"/>
          </a:p>
        </p:txBody>
      </p:sp>
      <p:sp>
        <p:nvSpPr>
          <p:cNvPr id="12" name="AutoShape 12"/>
          <p:cNvSpPr txBox="1"/>
          <p:nvPr/>
        </p:nvSpPr>
        <p:spPr>
          <a:xfrm>
            <a:off x="6350000" y="43180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玫瑰膏、鲜花饼含糖油高，不宜多吃；喝纯玫瑰花茶相对安全。</a:t>
            </a:r>
            <a:endParaRPr lang="en-US" sz="1600"/>
          </a:p>
        </p:txBody>
      </p:sp>
      <p:sp>
        <p:nvSpPr>
          <p:cNvPr id="13" name="AutoShape 13"/>
          <p:cNvSpPr txBox="1"/>
          <p:nvPr/>
        </p:nvSpPr>
        <p:spPr>
          <a:xfrm>
            <a:off x="889000" y="5334000"/>
            <a:ext cx="482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⑤ 品种选错</a:t>
            </a:r>
            <a:endParaRPr lang="en-US" sz="1800"/>
          </a:p>
        </p:txBody>
      </p:sp>
      <p:sp>
        <p:nvSpPr>
          <p:cNvPr id="14" name="AutoShape 14"/>
          <p:cNvSpPr txBox="1"/>
          <p:nvPr/>
        </p:nvSpPr>
        <p:spPr>
          <a:xfrm>
            <a:off x="889000" y="5715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46464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必须选国家公布的药食同源品种「重瓣红玫瑰」；花店切花月季/玫瑰有农药残留，绝不可食用。</a:t>
            </a:r>
            <a:endParaRPr lang="en-US" sz="16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　课程学习感悟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学完这门课，我对「美容」这件事的三个改变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889000" y="2413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778000" y="2476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从「涂什么」到「养什么」</a:t>
            </a:r>
            <a:endParaRPr lang="en-US" sz="18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1778000" y="28956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以前觉得美容=护肤品+化妆品；课程让我理解「有诸内必形诸外」，皮肤是脏腑气血的镜子，食疗调养才是长久养颜的基础。</a:t>
            </a:r>
            <a:endParaRPr lang="en-US" sz="1600"/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889000" y="3810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二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1778000" y="3873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从「跟风喝」到「辨证喝」</a:t>
            </a:r>
            <a:endParaRPr lang="en-US" sz="1800"/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1778000" y="42926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玫瑰花茶人人都在喝，但大部分人不知道它温、入肝脾，也不知道自己适不适合。食疗不等于随便吃，要分体质、懂配伍、知禁忌。</a:t>
            </a:r>
            <a:endParaRPr lang="en-US" sz="1600"/>
          </a:p>
        </p:txBody>
      </p:sp>
      <p:sp>
        <p:nvSpPr>
          <p:cNvPr id="11" name="AutoShape 11"/>
          <p:cNvSpPr txBox="1"/>
          <p:nvPr>
            <p:custDataLst>
              <p:tags r:id="rId7"/>
            </p:custDataLst>
          </p:nvPr>
        </p:nvSpPr>
        <p:spPr>
          <a:xfrm>
            <a:off x="889000" y="5207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</a:t>
            </a:r>
            <a:endParaRPr lang="en-US" sz="1100"/>
          </a:p>
        </p:txBody>
      </p:sp>
      <p:sp>
        <p:nvSpPr>
          <p:cNvPr id="12" name="AutoShape 12"/>
          <p:cNvSpPr txBox="1"/>
          <p:nvPr>
            <p:custDataLst>
              <p:tags r:id="rId8"/>
            </p:custDataLst>
          </p:nvPr>
        </p:nvSpPr>
        <p:spPr>
          <a:xfrm>
            <a:off x="1778000" y="5270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从「消费网红品」到「理性看养生」</a:t>
            </a:r>
            <a:endParaRPr lang="en-US" sz="1800"/>
          </a:p>
        </p:txBody>
      </p:sp>
      <p:sp>
        <p:nvSpPr>
          <p:cNvPr id="13" name="AutoShape 13"/>
          <p:cNvSpPr txBox="1"/>
          <p:nvPr>
            <p:custDataLst>
              <p:tags r:id="rId9"/>
            </p:custDataLst>
          </p:nvPr>
        </p:nvSpPr>
        <p:spPr>
          <a:xfrm>
            <a:off x="1778000" y="56896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以后不管是自己调养，还是给家人朋友建议，都能先问一句：这个东西的性味是什么？我（他）是什么体质？而不是看网红推荐就下单。</a:t>
            </a:r>
            <a:endParaRPr lang="en-US"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635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　课程学习感悟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016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defRPr sz="2800" b="1">
                <a:solidFill>
                  <a:srgbClr val="4682C8"/>
                </a:solidFill>
              </a:defRPr>
            </a:pPr>
            <a:r>
              <a:rPr>
                <a:solidFill>
                  <a:schemeClr val="tx1"/>
                </a:solidFill>
                <a:sym typeface="+mn-ea"/>
              </a:rPr>
              <a:t>玫瑰花与其他花茶对比</a:t>
            </a:r>
            <a:endParaRPr lang="en-US" sz="1100">
              <a:solidFill>
                <a:schemeClr val="tx1"/>
              </a:solidFill>
              <a:sym typeface="+mn-ea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1898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889000" y="2413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</a:t>
            </a:r>
            <a:endParaRPr lang="en-US" sz="11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778000" y="24765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常见养颜花茶</a:t>
            </a:r>
            <a:r>
              <a:rPr lang="zh-CN" alt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对比</a:t>
            </a:r>
            <a:endParaRPr lang="zh-CN" altLang="en-US" sz="18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1778000" y="2895600"/>
            <a:ext cx="9398000" cy="163639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玫瑰花：性温，入肝脾。行气解郁、和血散瘀。适合肝郁气滞、面色暗沉、经前烦躁。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菊花：性寒，入肺肝。清热解毒、平肝明目。适合上火目赤、头痛眩晕、电脑族。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茉莉花：性温，入脾胃。理气开郁、和中辟秽。适合胃胀食欲差、情绪低落。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桂花：性温，入肺脾。温肺化饮、散寒止痛。适合寒咳、口臭、胃寒腹痛。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桃花：性平，入大肠。泻下通便、利水消肿。适合便秘水肿（不宜久服）。</a:t>
            </a:r>
            <a:endParaRPr lang="en-US"/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889000" y="42545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二</a:t>
            </a:r>
            <a:endParaRPr lang="en-US" sz="1100"/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1778000" y="4445000"/>
            <a:ext cx="939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</a:t>
            </a:r>
            <a:r>
              <a:rPr lang="zh-CN" alt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选择</a:t>
            </a:r>
            <a:r>
              <a:rPr lang="zh-CN" altLang="en-US" sz="1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建议</a:t>
            </a:r>
            <a:endParaRPr lang="zh-CN" altLang="en-US" sz="1800" b="1" i="0" u="none" strike="noStrike">
              <a:solidFill>
                <a:srgbClr val="2B2B2B"/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1778000" y="4953000"/>
            <a:ext cx="9398000" cy="1117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压力大+脸色暗 → 玫瑰花（疏肝活血）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上火+眼干 → 菊花（清热明目）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胃胀+情绪低 → 茉莉花（理气开郁）</a:t>
            </a:r>
            <a:endParaRPr>
              <a:sym typeface="+mn-ea"/>
            </a:endParaRPr>
          </a:p>
          <a:p>
            <a:pPr>
              <a:spcAft>
                <a:spcPts val="800"/>
              </a:spcAft>
              <a:defRPr sz="1400">
                <a:solidFill>
                  <a:srgbClr val="3C3C3C"/>
                </a:solidFill>
              </a:defRPr>
            </a:pPr>
            <a:r>
              <a:rPr>
                <a:sym typeface="+mn-ea"/>
              </a:rPr>
              <a:t>便秘 → 桃花（通便，短期使用）</a:t>
            </a:r>
            <a:r>
              <a:rPr lang="en-US" b="0" i="0" u="none" strike="noStrike">
                <a:solidFill>
                  <a:srgbClr val="505050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。</a:t>
            </a:r>
            <a:endParaRPr lang="en-US"/>
          </a:p>
        </p:txBody>
      </p:sp>
      <p:sp>
        <p:nvSpPr>
          <p:cNvPr id="11" name="AutoShape 11"/>
          <p:cNvSpPr txBox="1"/>
          <p:nvPr>
            <p:custDataLst>
              <p:tags r:id="rId7"/>
            </p:custDataLst>
          </p:nvPr>
        </p:nvSpPr>
        <p:spPr>
          <a:xfrm>
            <a:off x="889000" y="6096000"/>
            <a:ext cx="76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</a:t>
            </a:r>
            <a:endParaRPr lang="en-US" sz="1100"/>
          </a:p>
        </p:txBody>
      </p:sp>
      <p:sp>
        <p:nvSpPr>
          <p:cNvPr id="13" name="AutoShape 13"/>
          <p:cNvSpPr txBox="1"/>
          <p:nvPr>
            <p:custDataLst>
              <p:tags r:id="rId8"/>
            </p:custDataLst>
          </p:nvPr>
        </p:nvSpPr>
        <p:spPr>
          <a:xfrm>
            <a:off x="1778000" y="6197600"/>
            <a:ext cx="939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>
                <a:sym typeface="+mn-ea"/>
              </a:rPr>
              <a:t>玫瑰花独特优势：同时调理情绪（气）和面色（血），是唯一兼顾“行气”与“活血”的花茶。</a:t>
            </a:r>
            <a:endParaRPr lang="en-US"/>
          </a:p>
        </p:txBody>
      </p:sp>
      <p:sp>
        <p:nvSpPr>
          <p:cNvPr id="14" name="文本框 13"/>
          <p:cNvSpPr txBox="1"/>
          <p:nvPr/>
        </p:nvSpPr>
        <p:spPr>
          <a:xfrm>
            <a:off x="889000" y="196913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defRPr sz="1600">
                <a:solidFill>
                  <a:srgbClr val="646464"/>
                </a:solidFill>
              </a:defRPr>
            </a:pPr>
            <a:r>
              <a:rPr sz="2000">
                <a:sym typeface="+mn-ea"/>
              </a:rPr>
              <a:t>花茶那么多，为什么选玫瑰？</a:t>
            </a:r>
            <a:endParaRPr lang="zh-CN" altLang="en-US" sz="2000"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3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762000"/>
            <a:ext cx="635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REFERENCES</a:t>
            </a:r>
            <a:endParaRPr lang="en-US" sz="1100"/>
          </a:p>
        </p:txBody>
      </p:sp>
      <p:sp>
        <p:nvSpPr>
          <p:cNvPr id="3" name="AutoShape 3"/>
          <p:cNvSpPr txBox="1"/>
          <p:nvPr/>
        </p:nvSpPr>
        <p:spPr>
          <a:xfrm>
            <a:off x="889000" y="11430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2B2B2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参考文献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192">
            <a:off x="889004" y="2025650"/>
            <a:ext cx="1041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2CD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>
            <p:custDataLst>
              <p:tags r:id="rId1"/>
            </p:custDataLst>
          </p:nvPr>
        </p:nvSpPr>
        <p:spPr>
          <a:xfrm>
            <a:off x="889000" y="2540000"/>
            <a:ext cx="76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[1]</a:t>
            </a:r>
            <a:endParaRPr lang="en-US" sz="1800"/>
          </a:p>
        </p:txBody>
      </p:sp>
      <p:sp>
        <p:nvSpPr>
          <p:cNvPr id="6" name="AutoShape 6"/>
          <p:cNvSpPr txBox="1"/>
          <p:nvPr>
            <p:custDataLst>
              <p:tags r:id="rId2"/>
            </p:custDataLst>
          </p:nvPr>
        </p:nvSpPr>
        <p:spPr>
          <a:xfrm>
            <a:off x="1320165" y="2352675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国家药典委员会. 中华人民共和国药典（一部）[S]. 北京：中国医药科技出版社，2020.</a:t>
            </a:r>
            <a:endParaRPr lang="en-US" sz="1800"/>
          </a:p>
        </p:txBody>
      </p:sp>
      <p:sp>
        <p:nvSpPr>
          <p:cNvPr id="7" name="AutoShape 7"/>
          <p:cNvSpPr txBox="1"/>
          <p:nvPr>
            <p:custDataLst>
              <p:tags r:id="rId3"/>
            </p:custDataLst>
          </p:nvPr>
        </p:nvSpPr>
        <p:spPr>
          <a:xfrm>
            <a:off x="889000" y="3644265"/>
            <a:ext cx="358775" cy="4578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[2]</a:t>
            </a:r>
            <a:endParaRPr lang="en-US" sz="1800"/>
          </a:p>
        </p:txBody>
      </p:sp>
      <p:sp>
        <p:nvSpPr>
          <p:cNvPr id="8" name="AutoShape 8"/>
          <p:cNvSpPr txBox="1"/>
          <p:nvPr>
            <p:custDataLst>
              <p:tags r:id="rId4"/>
            </p:custDataLst>
          </p:nvPr>
        </p:nvSpPr>
        <p:spPr>
          <a:xfrm>
            <a:off x="1397000" y="368935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李艳，张敏. 重瓣红玫瑰活性成分及药食两用研究进展 [J]. 食品研究与开发，2022，43(11)：210–217.</a:t>
            </a:r>
            <a:endParaRPr lang="en-US" sz="1800"/>
          </a:p>
        </p:txBody>
      </p:sp>
      <p:sp>
        <p:nvSpPr>
          <p:cNvPr id="9" name="AutoShape 9"/>
          <p:cNvSpPr txBox="1"/>
          <p:nvPr>
            <p:custDataLst>
              <p:tags r:id="rId5"/>
            </p:custDataLst>
          </p:nvPr>
        </p:nvSpPr>
        <p:spPr>
          <a:xfrm>
            <a:off x="889000" y="4826000"/>
            <a:ext cx="431165" cy="3937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2557A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[3]</a:t>
            </a:r>
            <a:endParaRPr lang="en-US" sz="1800"/>
          </a:p>
        </p:txBody>
      </p:sp>
      <p:sp>
        <p:nvSpPr>
          <p:cNvPr id="10" name="AutoShape 10"/>
          <p:cNvSpPr txBox="1"/>
          <p:nvPr>
            <p:custDataLst>
              <p:tags r:id="rId6"/>
            </p:custDataLst>
          </p:nvPr>
        </p:nvSpPr>
        <p:spPr>
          <a:xfrm>
            <a:off x="1397000" y="4826000"/>
            <a:ext cx="990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800" b="0" i="0" u="none" strike="noStrike">
                <a:solidFill>
                  <a:srgbClr val="3C3C3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王佳. 疏肝活血法在黄褐斑食疗中的应用探析 [J]. 中国中医药现代远程教育，2023，21(08)：124–126.</a:t>
            </a:r>
            <a:endParaRPr lang="en-US" sz="1800"/>
          </a:p>
        </p:txBody>
      </p:sp>
      <p:sp>
        <p:nvSpPr>
          <p:cNvPr id="11" name="AutoShape 11"/>
          <p:cNvSpPr txBox="1"/>
          <p:nvPr/>
        </p:nvSpPr>
        <p:spPr>
          <a:xfrm>
            <a:off x="889000" y="6096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100" b="0" i="0" u="none" strike="noStrike">
                <a:solidFill>
                  <a:srgbClr val="96969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说明：本课件为课程学习汇报，食疗内容不能替代正规医疗诊治。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2B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89000" y="2540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AF7F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以内养外，让气色从生活里长出来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5461032" y="3676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C2557A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 txBox="1"/>
          <p:nvPr/>
        </p:nvSpPr>
        <p:spPr>
          <a:xfrm>
            <a:off x="889000" y="4064000"/>
            <a:ext cx="1041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C8C3BE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 · 敬请老师批评指正</a:t>
            </a:r>
            <a:endParaRPr lang="en-US" sz="1100"/>
          </a:p>
        </p:txBody>
      </p:sp>
      <p:sp>
        <p:nvSpPr>
          <p:cNvPr id="5" name="AutoShape 5"/>
          <p:cNvSpPr txBox="1"/>
          <p:nvPr/>
        </p:nvSpPr>
        <p:spPr>
          <a:xfrm>
            <a:off x="889000" y="5461000"/>
            <a:ext cx="1041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汇报人：</a:t>
            </a:r>
            <a:r>
              <a:rPr lang="zh-CN" altLang="en-US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陈丹</a:t>
            </a:r>
            <a:r>
              <a:rPr lang="en-US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　班级：</a:t>
            </a:r>
            <a:r>
              <a:rPr lang="zh-CN" altLang="en-US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大数据</a:t>
            </a:r>
            <a:r>
              <a:rPr lang="en-US" altLang="zh-CN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241</a:t>
            </a:r>
            <a:r>
              <a:rPr lang="en-US" sz="1300" b="0" i="0" u="none" strike="noStrike">
                <a:solidFill>
                  <a:srgbClr val="96918C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　　学号：2024459985110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2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3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4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5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6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7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8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9.xml><?xml version="1.0" encoding="utf-8"?>
<p:tagLst xmlns:p="http://schemas.openxmlformats.org/presentationml/2006/main">
  <p:tag name="KSO_WM_DIAGRAM_VIRTUALLY_FRAME" val="{&quot;height&quot;:302,&quot;left&quot;:70,&quot;top&quot;:180,&quot;width&quot;:820}"/>
</p:tagLst>
</file>

<file path=ppt/tags/tag10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1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2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3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4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5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6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7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8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19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0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1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2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3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4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5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6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7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8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29.xml><?xml version="1.0" encoding="utf-8"?>
<p:tagLst xmlns:p="http://schemas.openxmlformats.org/presentationml/2006/main">
  <p:tag name="KSO_WM_DIAGRAM_VIRTUALLY_FRAME" val="{&quot;height&quot;:225,&quot;left&quot;:70,&quot;top&quot;:180,&quot;width&quot;:820}"/>
</p:tagLst>
</file>

<file path=ppt/tags/tag30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1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2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3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4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5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6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7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8.xml><?xml version="1.0" encoding="utf-8"?>
<p:tagLst xmlns:p="http://schemas.openxmlformats.org/presentationml/2006/main">
  <p:tag name="KSO_WM_DIAGRAM_VIRTUALLY_FRAME" val="{&quot;height&quot;:308,&quot;left&quot;:70,&quot;top&quot;:190,&quot;width&quot;:810}"/>
</p:tagLst>
</file>

<file path=ppt/tags/tag39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0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1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2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3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4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5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6.xml><?xml version="1.0" encoding="utf-8"?>
<p:tagLst xmlns:p="http://schemas.openxmlformats.org/presentationml/2006/main">
  <p:tag name="KSO_WM_DIAGRAM_VIRTUALLY_FRAME" val="{&quot;height&quot;:359.45,&quot;left&quot;:70,&quot;top&quot;:180.55,&quot;width&quot;:810}"/>
</p:tagLst>
</file>

<file path=ppt/tags/tag47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ags/tag48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ags/tag49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ags/tag50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ags/tag51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ags/tag52.xml><?xml version="1.0" encoding="utf-8"?>
<p:tagLst xmlns:p="http://schemas.openxmlformats.org/presentationml/2006/main">
  <p:tag name="KSO_WM_DIAGRAM_VIRTUALLY_FRAME" val="{&quot;height&quot;:255,&quot;left&quot;:70,&quot;top&quot;:185,&quot;width&quot;:830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3594</Words>
  <Application>WPS 演示</Application>
  <PresentationFormat/>
  <Paragraphs>367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默认主题</vt:lpstr>
      <vt:lpstr>1_默认主题</vt:lpstr>
      <vt:lpstr>2_默认主题</vt:lpstr>
      <vt:lpstr>3_默认主题</vt:lpstr>
      <vt:lpstr>4_默认主题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WPS_1649207993</cp:lastModifiedBy>
  <cp:revision>1</cp:revision>
  <dcterms:created xsi:type="dcterms:W3CDTF">2026-10-24T07:47:10Z</dcterms:created>
  <dcterms:modified xsi:type="dcterms:W3CDTF">2026-10-24T07:47:10Z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{"Label":"1","ContentProducer":"001191110102MACQD9K64010000","ProduceID":"7700112785078078741","ReservedCode1":"","ContentPropagator":"","PropagateID":"","ReservedCode2":""}</vt:lpwstr>
  </property>
  <property fmtid="{D5CDD505-2E9C-101B-9397-08002B2CF9AE}" pid="3" name="KSOProductBuildVer">
    <vt:lpwstr>2052-12.1.0.29680</vt:lpwstr>
  </property>
  <property fmtid="{D5CDD505-2E9C-101B-9397-08002B2CF9AE}" pid="4" name="ICV">
    <vt:lpwstr>DC725BF09E244B7DA3E2BB16FF961289_13</vt:lpwstr>
  </property>
</Properties>
</file>